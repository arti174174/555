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Как снимать Reels, которые смотрят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Практическая презентация: идея → первый кадр → удержание → действие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5F5F5"/>
                </a:solidFill>
                <a:latin typeface="Aptos"/>
              </a:defRPr>
            </a:pPr>
            <a:r>
              <a:t>Не «как снять красиво».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8686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0">
                <a:solidFill>
                  <a:srgbClr val="A5A5AC"/>
                </a:solidFill>
                <a:latin typeface="Aptos"/>
              </a:defRPr>
            </a:pPr>
            <a:r>
              <a:t>Как сделать так, чтобы человек остановился, узнал себя и досмотрел.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2011680"/>
            <a:ext cx="1645920" cy="2560320"/>
          </a:xfrm>
          <a:prstGeom prst="round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65176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F5F5F5"/>
                </a:solidFill>
                <a:latin typeface="Aptos"/>
              </a:defRPr>
            </a:pPr>
            <a:r>
              <a:t>REELS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324612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5F5F5"/>
                </a:solidFill>
                <a:latin typeface="Aptos"/>
              </a:defRPr>
            </a:pPr>
            <a:r>
              <a:t>ATTENTION</a:t>
            </a:r>
            <a:br/>
            <a:r>
              <a:t>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Главная мысль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Хороший ролик начинается не с камеры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29000" cy="30175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5C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F5F5F5"/>
                </a:solidFill>
                <a:latin typeface="Aptos"/>
              </a:defRPr>
            </a:pPr>
            <a:r>
              <a:t>ОСТАНОВИТЬ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A5A5AC"/>
                </a:solidFill>
                <a:latin typeface="Aptos"/>
              </a:defRPr>
            </a:pPr>
            <a:r>
              <a:t>Что заставит не пролистнуть?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429000" cy="30175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5C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F5F5F5"/>
                </a:solidFill>
                <a:latin typeface="Aptos"/>
              </a:defRPr>
            </a:pPr>
            <a:r>
              <a:t>УДЕРЖАТЬ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42900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A5A5AC"/>
                </a:solidFill>
                <a:latin typeface="Aptos"/>
              </a:defRPr>
            </a:pPr>
            <a:r>
              <a:t>Почему хочется узнать продолжение?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57400"/>
            <a:ext cx="3429000" cy="30175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5C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88920"/>
            <a:ext cx="2834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Aptos"/>
              </a:defRPr>
            </a:pPr>
            <a:r>
              <a:t>ЗАСТАВИТЬ ДЕЙСТВОВАТЬ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70332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A5A5AC"/>
                </a:solidFill>
                <a:latin typeface="Aptos"/>
              </a:defRPr>
            </a:pPr>
            <a:r>
              <a:t>Подписаться, сохранить, написать, перейти.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Первые 1,5 секунды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У зрителя нет обязанности ждать, пока вы «раскачаетесь»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6858000" cy="3474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A5A5AC"/>
                </a:solidFill>
                <a:latin typeface="Aptos"/>
              </a:defRPr>
            </a:pPr>
            <a:r>
              <a:t>ПЛОХО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5943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0">
                <a:solidFill>
                  <a:srgbClr val="F5F5F5"/>
                </a:solidFill>
                <a:latin typeface="Aptos"/>
              </a:defRPr>
            </a:pPr>
            <a:r>
              <a:t>«Всем привет! Сегодня я хочу рассказать…»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5A5AC"/>
                </a:solidFill>
                <a:latin typeface="Aptos"/>
              </a:defRPr>
            </a:pPr>
            <a:r>
              <a:t>Долго. Понятно. Предсказуемо.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ХОРОШО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5943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5F5F5"/>
                </a:solidFill>
                <a:latin typeface="Aptos"/>
              </a:defRPr>
            </a:pPr>
            <a:r>
              <a:t>«Я потратил 50 000 ₽ на то, что можно было сделать бесплатно»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011680"/>
            <a:ext cx="3657600" cy="3474720"/>
          </a:xfrm>
          <a:prstGeom prst="round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46888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5F5F5"/>
                </a:solidFill>
                <a:latin typeface="Aptos"/>
              </a:defRPr>
            </a:pPr>
            <a:r>
              <a:t>КРЮЧОК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08960"/>
            <a:ext cx="28346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5F5F5"/>
                </a:solidFill>
                <a:latin typeface="Aptos"/>
              </a:defRPr>
            </a:pPr>
            <a:r>
              <a:t>Вопрос</a:t>
            </a:r>
            <a:br/>
            <a:r>
              <a:t>Конфликт</a:t>
            </a:r>
            <a:br/>
            <a:r>
              <a:t>Неожиданность</a:t>
            </a:r>
            <a:br/>
            <a:r>
              <a:t>Обещание результата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Что может быть крючком?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Не обязательно кричать или делать что-то безумное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780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7627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КОНФЛИКТ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  <a:latin typeface="Aptos"/>
              </a:defRPr>
            </a:pPr>
            <a:r>
              <a:t>«Почему большинство снимает Reels, которые никто не досматривает»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25780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7627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ИНТРИГА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1460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  <a:latin typeface="Aptos"/>
              </a:defRPr>
            </a:pPr>
            <a:r>
              <a:t>«Я сейчас покажу место, о котором почти никто не знает»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525780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0507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ПРОБЛЕМА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  <a:latin typeface="Aptos"/>
              </a:defRPr>
            </a:pPr>
            <a:r>
              <a:t>«Если ваши видео выглядят дёшево - проверьте вот это»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5257800" cy="14173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00507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НЕОЖИДАННОСТЬ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4340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  <a:latin typeface="Aptos"/>
              </a:defRPr>
            </a:pPr>
            <a:r>
              <a:t>Начать с результата, а не с объяснения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3 секунды: зритель должен узнать себя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A5A5AC"/>
                </a:solidFill>
                <a:latin typeface="Aptos"/>
              </a:defRPr>
            </a:pPr>
            <a:r>
              <a:t>После крючка возникает мысль: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315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5F5F5"/>
                </a:solidFill>
                <a:latin typeface="Aptos"/>
              </a:defRPr>
            </a:pPr>
            <a:r>
              <a:t>«О, у меня было так же»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83280"/>
            <a:ext cx="10789920" cy="15544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Рабочие триггеры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5F5F5"/>
                </a:solidFill>
                <a:latin typeface="Aptos"/>
              </a:defRPr>
            </a:pPr>
            <a:r>
              <a:t>Польза  •  конфликт  •  уязвимость  •  «до / после»  •  знакомая ситуация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Формула сильного ролика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514600" cy="297180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ЭМОЦИЯ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5A5AC"/>
                </a:solidFill>
                <a:latin typeface="Aptos"/>
              </a:defRPr>
            </a:pPr>
            <a:r>
              <a:t>Остановила внимание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48840"/>
            <a:ext cx="2514600" cy="297180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42316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803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ТРИГГЕР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65760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5A5AC"/>
                </a:solidFill>
                <a:latin typeface="Aptos"/>
              </a:defRPr>
            </a:pPr>
            <a:r>
              <a:t>«Это про меня»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2514600" cy="297180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ЗЕРКАЛО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5A5AC"/>
                </a:solidFill>
                <a:latin typeface="Aptos"/>
              </a:defRPr>
            </a:pPr>
            <a:r>
              <a:t>Узнал себя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48840"/>
            <a:ext cx="2514600" cy="297180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42316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8803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ДИАЛОГ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657600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5A5AC"/>
                </a:solidFill>
                <a:latin typeface="Aptos"/>
              </a:defRPr>
            </a:pPr>
            <a:r>
              <a:t>Захотелось отреагировать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Как удерживать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У зрителя должен быть повод узнать, что будет дальше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92807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5F5F5"/>
                </a:solidFill>
                <a:latin typeface="Aptos"/>
              </a:defRPr>
            </a:pPr>
            <a:r>
              <a:t>Не раскрывай всё в первой фразе.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79191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39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5F5F5"/>
                </a:solidFill>
                <a:latin typeface="Aptos"/>
              </a:defRPr>
            </a:pPr>
            <a:r>
              <a:t>Давай информацию порциями.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92424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19272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5F5F5"/>
                </a:solidFill>
                <a:latin typeface="Aptos"/>
              </a:defRPr>
            </a:pPr>
            <a:r>
              <a:t>Меняй действие, план, ракурс или мысль.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05656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32504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5F5F5"/>
                </a:solidFill>
                <a:latin typeface="Aptos"/>
              </a:defRPr>
            </a:pPr>
            <a:r>
              <a:t>Создавай вопрос в начале и закрывай его ближе к финалу.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818888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45736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5F5F5"/>
                </a:solidFill>
                <a:latin typeface="Aptos"/>
              </a:defRPr>
            </a:pPr>
            <a:r>
              <a:t>Оставляй неожиданный поворот, результат или сильную финальную фразу.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Смена кадров - не ради красоты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Каждая склейка должна что-то менять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383280" cy="29260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КАДР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Aptos"/>
              </a:defRPr>
            </a:pPr>
            <a:r>
              <a:t>Крупный план</a:t>
            </a:r>
            <a:br/>
            <a:r>
              <a:t>лицо + фраза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29260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КАДР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6324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Aptos"/>
              </a:defRPr>
            </a:pPr>
            <a:r>
              <a:t>Средний план</a:t>
            </a:r>
            <a:br/>
            <a:r>
              <a:t>действие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3383280" cy="29260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КАДР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6324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Aptos"/>
              </a:defRPr>
            </a:pPr>
            <a:r>
              <a:t>Деталь / результат</a:t>
            </a:r>
            <a:br/>
            <a:r>
              <a:t>/ реакция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70/30: сначала интерес, потом продажа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6400800" cy="3474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5146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FF5C43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53035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5F5F5"/>
                </a:solidFill>
                <a:latin typeface="Aptos"/>
              </a:defRPr>
            </a:pPr>
            <a:r>
              <a:t>Контент, где человек</a:t>
            </a:r>
            <a:br/>
            <a:r>
              <a:t>узнаёт себя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29768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5A5AC"/>
                </a:solidFill>
                <a:latin typeface="Aptos"/>
              </a:defRPr>
            </a:pPr>
            <a:r>
              <a:t>история • проблема • польза • эмоция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057400"/>
            <a:ext cx="3840480" cy="347472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5146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64D296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24612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5F5F5"/>
                </a:solidFill>
                <a:latin typeface="Aptos"/>
              </a:defRPr>
            </a:pPr>
            <a:r>
              <a:t>Продукт,</a:t>
            </a:r>
            <a:br/>
            <a:r>
              <a:t>кейс, продажа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976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5A5AC"/>
                </a:solidFill>
                <a:latin typeface="Aptos"/>
              </a:defRPr>
            </a:pPr>
            <a:r>
              <a:t>показать, чем вы полезны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О чём вообще снимать?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337560" cy="29260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5C43"/>
                </a:solidFill>
                <a:latin typeface="Aptos"/>
              </a:defRPr>
            </a:pPr>
            <a:r>
              <a:t>ЛИЧНОЕ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651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мысли • жизнь • рутина • хобби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8840"/>
            <a:ext cx="3337560" cy="29260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146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5C43"/>
                </a:solidFill>
                <a:latin typeface="Aptos"/>
              </a:defRPr>
            </a:pPr>
            <a:r>
              <a:t>ЭКСПЕРТНОЕ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200400"/>
            <a:ext cx="2651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кейсы • ошибки • инструкции • приёмы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48840"/>
            <a:ext cx="3337560" cy="29260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5146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5C43"/>
                </a:solidFill>
                <a:latin typeface="Aptos"/>
              </a:defRPr>
            </a:pPr>
            <a:r>
              <a:t>ИСТОРИИ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200400"/>
            <a:ext cx="2651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5F5F5"/>
                </a:solidFill>
                <a:latin typeface="Aptos"/>
              </a:defRPr>
            </a:pPr>
            <a:r>
              <a:t>конфликт • провал • путь • результат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Пример: один и тот же смысл можно снять по-разному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A5A5AC"/>
                </a:solidFill>
                <a:latin typeface="Aptos"/>
              </a:defRPr>
            </a:pPr>
            <a:r>
              <a:t>Тема: «Я снимаю видео для бизнеса»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5166360" cy="24688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СКУЧНО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Aptos"/>
              </a:defRPr>
            </a:pPr>
            <a:r>
              <a:t>«Я занимаюсь видеосъёмкой.</a:t>
            </a:r>
            <a:br/>
            <a:r>
              <a:t>Обращайтесь ко мне.»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468880"/>
            <a:ext cx="5166360" cy="246888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7432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ИНТЕРЕСНЕЕ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24612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5F5F5"/>
                </a:solidFill>
                <a:latin typeface="Aptos"/>
              </a:defRPr>
            </a:pPr>
            <a:r>
              <a:t>«Вот почему ваш ролик</a:t>
            </a:r>
            <a:br/>
            <a:r>
              <a:t>за 30 000 ₽ может не дать ни одного клиента»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Съёмка без сложной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Идея важнее количества техники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10012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Aptos"/>
              </a:defRPr>
            </a:pPr>
            <a:r>
              <a:t>Вертикальный формат.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51760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10012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Aptos"/>
              </a:defRPr>
            </a:pPr>
            <a:r>
              <a:t>Крупный план для основной мысли.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83280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10128"/>
            <a:ext cx="10012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Aptos"/>
              </a:defRPr>
            </a:pPr>
            <a:r>
              <a:t>2–4 дополнительных кадра для перебивок.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14800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41648"/>
            <a:ext cx="10012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Aptos"/>
              </a:defRPr>
            </a:pPr>
            <a:r>
              <a:t>Снимай действие, а не только говорящую голову.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846320"/>
            <a:ext cx="73152" cy="73152"/>
          </a:xfrm>
          <a:prstGeom prst="rect">
            <a:avLst/>
          </a:prstGeom>
          <a:solidFill>
            <a:srgbClr val="FF5C43"/>
          </a:solidFill>
          <a:ln>
            <a:solidFill>
              <a:srgbClr val="FF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73168"/>
            <a:ext cx="10012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5F5F5"/>
                </a:solidFill>
                <a:latin typeface="Aptos"/>
              </a:defRPr>
            </a:pPr>
            <a:r>
              <a:t>Свет и звук должны помогать понять мысль, а не становиться самоцелью.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Практика: Reels за 20 секунд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Схема из исходной лекции - теперь разложенная по смыслу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0–3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t>ИНТРИГА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5A5AC"/>
                </a:solidFill>
                <a:latin typeface="Aptos"/>
              </a:defRPr>
            </a:pPr>
            <a:r>
              <a:t>«Я долго это скрывал…»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3–7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3347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t>ПРИЗНАНИЕ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33472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5A5AC"/>
                </a:solidFill>
                <a:latin typeface="Aptos"/>
              </a:defRPr>
            </a:pPr>
            <a:r>
              <a:t>Неожиданная мысль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7–13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38144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t>ПОЧЕМУ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38144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5A5AC"/>
                </a:solidFill>
                <a:latin typeface="Aptos"/>
              </a:defRPr>
            </a:pPr>
            <a:r>
              <a:t>Почему молчал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42816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13–17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42816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t>ПЕРЕЛОМ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42816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5A5AC"/>
                </a:solidFill>
                <a:latin typeface="Aptos"/>
              </a:defRPr>
            </a:pPr>
            <a:r>
              <a:t>Смена ракурса / действие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5C43"/>
                </a:solidFill>
                <a:latin typeface="Aptos"/>
              </a:defRPr>
            </a:pPr>
            <a:r>
              <a:t>17–20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47488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t>ФИНАЛ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047488"/>
            <a:ext cx="7132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5A5AC"/>
                </a:solidFill>
                <a:latin typeface="Aptos"/>
              </a:defRPr>
            </a:pPr>
            <a:r>
              <a:t>Фраза, которую хочется запомнить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Пример готового ролика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0698480" cy="35661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0–3 сек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4884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5F5F5"/>
                </a:solidFill>
                <a:latin typeface="Aptos"/>
              </a:defRPr>
            </a:pPr>
            <a:r>
              <a:t>«Я думал, что мне просто не везёт с видео…»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3–13 сек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8036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F5F5F5"/>
                </a:solidFill>
                <a:latin typeface="Aptos"/>
              </a:defRPr>
            </a:pPr>
            <a:r>
              <a:t>Показываем 2–3 примера провалов + объясняем причину.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F5C43"/>
                </a:solidFill>
                <a:latin typeface="Aptos"/>
              </a:defRPr>
            </a:pPr>
            <a:r>
              <a:t>13–20 сек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611880"/>
            <a:ext cx="8503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F5F5F5"/>
                </a:solidFill>
                <a:latin typeface="Aptos"/>
              </a:defRPr>
            </a:pPr>
            <a:r>
              <a:t>«Оказалось, проблема была не в камере. Вот что я поменял.»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Что должен сделать зритель после просмотра?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337560" cy="10515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ПОДПИСАТЬСЯ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57400"/>
            <a:ext cx="3337560" cy="10515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28600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СОХРАНИТЬ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057400"/>
            <a:ext cx="3337560" cy="10515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228600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ОТПРАВИТЬ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3337560" cy="10515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НАПИСАТЬ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474720"/>
            <a:ext cx="3337560" cy="10515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70332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ПЕРЕЙТИ В ПРОФИЛЬ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74720"/>
            <a:ext cx="3337560" cy="1051560"/>
          </a:xfrm>
          <a:prstGeom prst="roundRect">
            <a:avLst/>
          </a:prstGeom>
          <a:solidFill>
            <a:srgbClr val="19191D"/>
          </a:solidFill>
          <a:ln>
            <a:solidFill>
              <a:srgbClr val="19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70332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5F5"/>
                </a:solidFill>
                <a:latin typeface="Aptos"/>
              </a:defRPr>
            </a:pPr>
            <a:r>
              <a:t>ОСТАВИТЬ ЗАЯВКУ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Шпаргалка перед съёмкой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A5AC"/>
                </a:solidFill>
                <a:latin typeface="Aptos"/>
              </a:defRPr>
            </a:pPr>
            <a:r>
              <a:t>Пять вопросов, которые стоит задать себе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5C43"/>
                </a:solidFill>
                <a:latin typeface="Aptos"/>
              </a:defRPr>
            </a:pPr>
            <a:r>
              <a:t>1. Что человек увидит в первые 1,5 секунды?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Aptos"/>
              </a:defRPr>
            </a:pPr>
            <a:r>
              <a:t>2. Какая здесь проблема или интрига?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Aptos"/>
              </a:defRPr>
            </a:pPr>
            <a:r>
              <a:t>3. Где зритель узнает себя?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Aptos"/>
              </a:defRPr>
            </a:pPr>
            <a:r>
              <a:t>4. Почему он досмотрит до конца?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Aptos"/>
              </a:defRPr>
            </a:pPr>
            <a:r>
              <a:t>5. Что он должен сделать после просмотра?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A5A5A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5F5"/>
                </a:solidFill>
                <a:latin typeface="Aptos"/>
              </a:defRPr>
            </a:pPr>
            <a:r>
              <a:t>Главное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0">
                <a:solidFill>
                  <a:srgbClr val="A5A5AC"/>
                </a:solidFill>
                <a:latin typeface="Aptos"/>
              </a:defRPr>
            </a:pPr>
            <a:r>
              <a:t>Не пытайся сделать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  <a:latin typeface="Aptos"/>
              </a:defRPr>
            </a:pPr>
            <a:r>
              <a:t>ИДЕАЛЬНЫЙ РОЛИК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0">
                <a:solidFill>
                  <a:srgbClr val="A5A5AC"/>
                </a:solidFill>
                <a:latin typeface="Aptos"/>
              </a:defRPr>
            </a:pPr>
            <a:r>
              <a:t>Сделай ролик, который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FF5C43"/>
                </a:solidFill>
                <a:latin typeface="Aptos"/>
              </a:defRPr>
            </a:pPr>
            <a:r>
              <a:t>ЗАСТАВЛЯЕТ ОСТАНОВИТЬСЯ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